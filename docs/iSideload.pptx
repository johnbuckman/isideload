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955280" y="-1463040"/>
            <a:ext cx="5943600" cy="5943600"/>
          </a:xfrm>
          <a:prstGeom prst="roundRect">
            <a:avLst>
              <a:gd name="adj" fmla="val 9231"/>
            </a:avLst>
          </a:prstGeom>
          <a:solidFill>
            <a:srgbClr val="1239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3840480" cy="3840480"/>
          </a:xfrm>
          <a:prstGeom prst="ellipse">
            <a:avLst/>
          </a:prstGeom>
          <a:solidFill>
            <a:srgbClr val="0E2742"/>
          </a:solidFill>
          <a:ln/>
        </p:spPr>
      </p:sp>
      <p:pic>
        <p:nvPicPr>
          <p:cNvPr id="4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7772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686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self-contained Mac sideloader for iOS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30175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 free Apple ID → auto-provision a cert → sign → install to your iPhone or iPad.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Xcode. No AltStore server. No Python. One notarized menu-bar app.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44805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22C1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4805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v0.1-alpha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249424" y="4480560"/>
            <a:ext cx="2406701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39A9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9424" y="4480560"/>
            <a:ext cx="2406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· Developer ID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84725" y="4480560"/>
            <a:ext cx="972922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4725" y="4480560"/>
            <a:ext cx="97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6246" y="448056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13273F"/>
          </a:solidFill>
          <a:ln w="12700">
            <a:solidFill>
              <a:srgbClr val="8FA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6246" y="4480560"/>
            <a:ext cx="3123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github.com/johnbuckman/iSideload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shipped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lean-AltServer pipeline works end-to-end and is published as a notarized app.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Free-Apple-ID login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any Apple ID (SMS 2-factor). iSideload auto-mints a signing certificate and 7-day profile for you.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368296"/>
            <a:ext cx="566928" cy="566928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 the Mac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943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Apple-equivalent signing (zsign) to sign all 64 embedded frameworks — no on-device signer, no Xcode.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2368296"/>
            <a:ext cx="566928" cy="566928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36829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02752" y="30815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OpenSSL, libimobiledevice and the signer. No Python, no Homebrew, no AltServer. Just the app.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343400"/>
            <a:ext cx="566928" cy="56692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9611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Re-signs before the 7-day cert expires — on a timer and the moment a device connects.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343400"/>
            <a:ext cx="566928" cy="566928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⛃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&amp; multi-device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several Apple IDs and several iPhones/iPads from one menu-bar window.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123944"/>
            <a:ext cx="3538728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47888" y="43434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61120" y="43434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&amp; open source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02752" y="505663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v0.1-alpha DMG is notarized (zero Gatekeeper warnings). Public under AGPL-3.0.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→ an app on your device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22C1B6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2408" y="2770632"/>
            <a:ext cx="658368" cy="65836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6" name="Text 4"/>
          <p:cNvSpPr/>
          <p:nvPr/>
        </p:nvSpPr>
        <p:spPr>
          <a:xfrm>
            <a:off x="1432408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4332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4332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SMS 2FA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80564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91460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39A9E0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9536" y="2770632"/>
            <a:ext cx="658368" cy="658368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9536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91460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1460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cert +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profile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7692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58588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5AA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6664" y="2770632"/>
            <a:ext cx="658368" cy="658368"/>
          </a:xfrm>
          <a:prstGeom prst="ellipse">
            <a:avLst/>
          </a:prstGeom>
          <a:solidFill>
            <a:srgbClr val="5AA9E6"/>
          </a:solidFill>
          <a:ln/>
        </p:spPr>
      </p:sp>
      <p:sp>
        <p:nvSpPr>
          <p:cNvPr id="18" name="Text 16"/>
          <p:cNvSpPr/>
          <p:nvPr/>
        </p:nvSpPr>
        <p:spPr>
          <a:xfrm>
            <a:off x="5766664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58588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8588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zsign all 64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4820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25716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36B37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33792" y="2770632"/>
            <a:ext cx="658368" cy="65836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4" name="Text 22"/>
          <p:cNvSpPr/>
          <p:nvPr/>
        </p:nvSpPr>
        <p:spPr>
          <a:xfrm>
            <a:off x="7933792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25716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25716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libimobiledevice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USB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1948" y="315468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492844" y="251460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02A47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00920" y="2770632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0920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92844" y="3502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92844" y="3867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re-sign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expiry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need you once. After that, refresh runs unattended.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RELIABLE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install is known to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24871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reliable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device in, and the full flow — trust, sign, install — just works.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USB install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32888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signed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05656" y="4480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05656" y="51389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2505456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377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Auto-trust on first plug-in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49440" y="2798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 flips on Wi-Fi visibility over the cable, so no manual setup.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547872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3858768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3730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deterministic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49440" y="41513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76 MB app installs in ~3.5 s. No flaky discovery, no timeouts.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9320" y="4901184"/>
            <a:ext cx="55321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5212080"/>
            <a:ext cx="548640" cy="54864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50840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guaranteed fallback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49440" y="5504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Wi-Fi refresh can't reach a device, USB always completes.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Apple IDs for more apps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Apple ID signs 3 apps at a time. Add another account and you add another 3 slots — all managed in one window.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173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de1app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61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262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29" name="Shape 27"/>
          <p:cNvSpPr/>
          <p:nvPr/>
        </p:nvSpPr>
        <p:spPr>
          <a:xfrm>
            <a:off x="47274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274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35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06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035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823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03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four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7823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40" name="Shape 38"/>
          <p:cNvSpPr/>
          <p:nvPr/>
        </p:nvSpPr>
        <p:spPr>
          <a:xfrm>
            <a:off x="49103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41" name="Text 39"/>
          <p:cNvSpPr/>
          <p:nvPr/>
        </p:nvSpPr>
        <p:spPr>
          <a:xfrm>
            <a:off x="49103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five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7823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03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45" name="Text 43"/>
          <p:cNvSpPr/>
          <p:nvPr/>
        </p:nvSpPr>
        <p:spPr>
          <a:xfrm>
            <a:off x="49103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six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412480" y="22860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412480" y="228600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6E48C9"/>
          </a:solidFill>
          <a:ln/>
        </p:spPr>
      </p:sp>
      <p:sp>
        <p:nvSpPr>
          <p:cNvPr id="49" name="Shape 47"/>
          <p:cNvSpPr/>
          <p:nvPr/>
        </p:nvSpPr>
        <p:spPr>
          <a:xfrm>
            <a:off x="8412480" y="2697480"/>
            <a:ext cx="3383280" cy="365760"/>
          </a:xfrm>
          <a:prstGeom prst="rect">
            <a:avLst/>
          </a:prstGeom>
          <a:solidFill>
            <a:srgbClr val="6E48C9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3648" y="2459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613648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0" y="22860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1897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#3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868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18972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slots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668512" y="3246120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57" name="Shape 55"/>
          <p:cNvSpPr/>
          <p:nvPr/>
        </p:nvSpPr>
        <p:spPr>
          <a:xfrm>
            <a:off x="8796528" y="3364992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58" name="Text 56"/>
          <p:cNvSpPr/>
          <p:nvPr/>
        </p:nvSpPr>
        <p:spPr>
          <a:xfrm>
            <a:off x="879652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281160" y="3246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seven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8668512" y="3959352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61" name="Shape 59"/>
          <p:cNvSpPr/>
          <p:nvPr/>
        </p:nvSpPr>
        <p:spPr>
          <a:xfrm>
            <a:off x="8796528" y="4078224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62" name="Text 60"/>
          <p:cNvSpPr/>
          <p:nvPr/>
        </p:nvSpPr>
        <p:spPr>
          <a:xfrm>
            <a:off x="8796528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281160" y="3959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eight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8668512" y="4672584"/>
            <a:ext cx="2871216" cy="566928"/>
          </a:xfrm>
          <a:prstGeom prst="roundRect">
            <a:avLst>
              <a:gd name="adj" fmla="val 12903"/>
            </a:avLst>
          </a:prstGeom>
          <a:solidFill>
            <a:srgbClr val="E7EFF7"/>
          </a:solidFill>
          <a:ln/>
        </p:spPr>
      </p:sp>
      <p:sp>
        <p:nvSpPr>
          <p:cNvPr id="65" name="Shape 63"/>
          <p:cNvSpPr/>
          <p:nvPr/>
        </p:nvSpPr>
        <p:spPr>
          <a:xfrm>
            <a:off x="8796528" y="4791456"/>
            <a:ext cx="329184" cy="329184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66" name="Text 64"/>
          <p:cNvSpPr/>
          <p:nvPr/>
        </p:nvSpPr>
        <p:spPr>
          <a:xfrm>
            <a:off x="8796528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281160" y="46725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nine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EDE6FA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68680" y="5943600"/>
            <a:ext cx="411480" cy="411480"/>
          </a:xfrm>
          <a:prstGeom prst="ellipse">
            <a:avLst/>
          </a:prstGeom>
          <a:solidFill>
            <a:srgbClr val="6E48C9"/>
          </a:solidFill>
          <a:ln/>
        </p:spPr>
      </p:sp>
      <p:sp>
        <p:nvSpPr>
          <p:cNvPr id="70" name="Text 68"/>
          <p:cNvSpPr/>
          <p:nvPr/>
        </p:nvSpPr>
        <p:spPr>
          <a:xfrm>
            <a:off x="868680" y="5943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417320" y="5760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 per account, persisted and reused — </a:t>
            </a:r>
            <a:pPr indent="0" marL="0">
              <a:buNone/>
            </a:pPr>
            <a:r>
              <a:rPr lang="en-US" sz="13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re-signing one app never invalidates its siblings.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DEVELOPER ACCOUNT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year lifts every limit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login works with a paid Apple Developer account — iSideload reads it automatically and unlocks the paid tier.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3794760"/>
          </a:xfrm>
          <a:prstGeom prst="roundRect">
            <a:avLst>
              <a:gd name="adj" fmla="val 3373"/>
            </a:avLst>
          </a:prstGeom>
          <a:solidFill>
            <a:srgbClr val="0E2440"/>
          </a:solidFill>
          <a:ln w="12700">
            <a:solidFill>
              <a:srgbClr val="24435F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3355848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signing window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54480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stop opening after a week unless refreshed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4014216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per account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5448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accounts to get more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4672584"/>
            <a:ext cx="384048" cy="384048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App IDs / week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bundle IDs are rate-limited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2286000"/>
            <a:ext cx="5303520" cy="3794760"/>
          </a:xfrm>
          <a:prstGeom prst="roundRect">
            <a:avLst>
              <a:gd name="adj" fmla="val 3373"/>
            </a:avLst>
          </a:prstGeom>
          <a:solidFill>
            <a:srgbClr val="10314F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$99/yr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11112" y="3355848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signing window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59752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once, use for a full year — refresh almost never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11112" y="4014216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59752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apps &amp; App IDs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59752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many apps without juggling accounts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11112" y="4672584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9752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for daily use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59752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apps you actually depend 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 shows a per-account validity badge — "7 days" for free, "1 year" for paid — so you always know which you're 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menu-bar app that manages itself</a:t>
            </a:r>
            <a:endParaRPr lang="en-US" sz="3400" dirty="0"/>
          </a:p>
        </p:txBody>
      </p:sp>
      <p:pic>
        <p:nvPicPr>
          <p:cNvPr id="4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15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Mac menu bar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window gives you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35040" y="2715768"/>
            <a:ext cx="457200" cy="457200"/>
          </a:xfrm>
          <a:prstGeom prst="ellipse">
            <a:avLst/>
          </a:prstGeom>
          <a:solidFill>
            <a:srgbClr val="39A9E0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29400" y="2642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menu bar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29400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 clutter — a shipping-box icon you click when you need it.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429000"/>
            <a:ext cx="457200" cy="45720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management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29400" y="36850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shows its device, expiry countdown, Refresh and Remove.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4142232"/>
            <a:ext cx="457200" cy="457200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&amp; validity at a glance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29400" y="43982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/ 3 slots", "7 days" vs "1 year" badges per account.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4855464"/>
            <a:ext cx="457200" cy="457200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2940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URL, .json or .ipa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29400" y="51114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AltStore-style source, or pick an IPA from disk.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55686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5495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at login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29400" y="58247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itself so refresh keeps running quietly in the background.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updating — still being solved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refresh apps over Wi-Fi so you never re-plug. Discovery works; the install path is fighting the home network.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36B37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42032"/>
            <a:ext cx="5394960" cy="338328"/>
          </a:xfrm>
          <a:prstGeom prst="rect">
            <a:avLst/>
          </a:prstGeom>
          <a:solidFill>
            <a:srgbClr val="36B37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install on iOS 26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63040" y="3355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 signed app installs over Wi-Fi in ~14 s when the device is reachable and unlocked.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Device→Mac beacon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43159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ping reaches the Mac straight through the mesh — the Mac learns the device IP with zero scanning.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384048" cy="38404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9377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Direct-IP / subnet sweep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5276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DHCP and mesh Wi-Fi by connecting to the device by IP, bypassing Apple's flaky Bonjour discovery.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53912" y="219456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3912" y="219456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2542032"/>
            <a:ext cx="5394960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2512" y="2359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5432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blocker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28232" y="3108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76872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Mac→device high ports get reset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76872" y="3355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 Eero mesh, the dynamic install ports are intermittently blocked, even with the device awake and unlocked.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28232" y="4069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76872" y="3977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sandbox blocks self-install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976872" y="43159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app can't reach the device's own install service, so a simple relay isn't possible.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28232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76872" y="49377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device-initiated tunnel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976872" y="5276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Outbound-from-device path (SideStore-style) to sidestep the inbound block — the piece being prototyped now.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5029200" cy="5029200"/>
          </a:xfrm>
          <a:prstGeom prst="ellipse">
            <a:avLst/>
          </a:prstGeom>
          <a:solidFill>
            <a:srgbClr val="0E2742"/>
          </a:solidFill>
          <a:ln/>
        </p:spPr>
      </p:sp>
      <p:pic>
        <p:nvPicPr>
          <p:cNvPr id="3" name="Image 0" descr="/private/tmp/claude-501/-Users-john/8dc8c88d-3caf-49d9-9727-66232cddda4c/scratchpad/isideload-ppt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731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iSideload stands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148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6" name="Shape 3"/>
          <p:cNvSpPr/>
          <p:nvPr/>
        </p:nvSpPr>
        <p:spPr>
          <a:xfrm>
            <a:off x="1024128" y="2322576"/>
            <a:ext cx="475488" cy="475488"/>
          </a:xfrm>
          <a:prstGeom prst="ellipse">
            <a:avLst/>
          </a:prstGeom>
          <a:solidFill>
            <a:srgbClr val="36B37E"/>
          </a:solidFill>
          <a:ln/>
        </p:spPr>
      </p:sp>
      <p:sp>
        <p:nvSpPr>
          <p:cNvPr id="7" name="Text 4"/>
          <p:cNvSpPr/>
          <p:nvPr/>
        </p:nvSpPr>
        <p:spPr>
          <a:xfrm>
            <a:off x="1024128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03320" y="21488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Notarized v0.1-alpha DMG, public AGPL-3.0 repo, fully self-contained.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3282696"/>
            <a:ext cx="475488" cy="475488"/>
          </a:xfrm>
          <a:prstGeom prst="ellipse">
            <a:avLst/>
          </a:prstGeom>
          <a:solidFill>
            <a:srgbClr val="22C1B6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916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USB: solid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3320" y="3108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One-plug sign-and-install in seconds — the guaranteed path.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0690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16" name="Shape 13"/>
          <p:cNvSpPr/>
          <p:nvPr/>
        </p:nvSpPr>
        <p:spPr>
          <a:xfrm>
            <a:off x="1024128" y="4242816"/>
            <a:ext cx="475488" cy="475488"/>
          </a:xfrm>
          <a:prstGeom prst="ellipse">
            <a:avLst/>
          </a:prstGeom>
          <a:solidFill>
            <a:srgbClr val="8A5CD1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916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Accounts: flexible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03320" y="4069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per free ID, stack accounts, or go $99/yr for a full year.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02920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102A47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4128" y="5202936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1024128" y="5202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9164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in progress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0332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solved; a device-initiated tunnel is the next step.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869680" y="2651760"/>
            <a:ext cx="2743200" cy="1737360"/>
          </a:xfrm>
          <a:prstGeom prst="roundRect">
            <a:avLst>
              <a:gd name="adj" fmla="val 7368"/>
            </a:avLst>
          </a:prstGeom>
          <a:solidFill>
            <a:srgbClr val="22C1B6"/>
          </a:solidFill>
          <a:ln/>
          <a:effectLst>
            <a:outerShdw sx="100000" sy="100000" kx="0" ky="0" algn="bl" rotWithShape="0" blurRad="127000" dist="38100" dir="5400000">
              <a:srgbClr val="1A2A3A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696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86968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johnbuckman/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iSideload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2C1B6"/>
                </a:solidFill>
                <a:latin typeface="Calibri"/>
              </a:rPr>
              <a:t>TL;DR  ·  FOR END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You can fairly side-load an iOS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9FB0BE"/>
                </a:solidFill>
                <a:latin typeface="Calibri"/>
              </a:rPr>
              <a:t>How easily depends on the app developer. Three paths: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6888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l"/>
            <a:r>
              <a:rPr sz="1600" b="1" i="0">
                <a:solidFill>
                  <a:srgbClr val="E8A33D"/>
                </a:solidFill>
                <a:latin typeface="Calibri"/>
              </a:rPr>
              <a:t>★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Easiest — you pay Apple $99/year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9FB0BE"/>
                </a:solidFill>
                <a:latin typeface="Calibri"/>
              </a:rPr>
              <a:t>Sideload unlimited apps to your own devices. You just refresh the installs once a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75888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l"/>
            <a:r>
              <a:rPr sz="1600" b="1" i="0">
                <a:solidFill>
                  <a:srgbClr val="22C1B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Free path — the developer didn't pay Apple either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9FB0BE"/>
                </a:solidFill>
                <a:latin typeface="Calibri"/>
              </a:rPr>
              <a:t>Put your iPhone/iPad into Developer Mode (Settings), trust the key, and install over USB from a Mac.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82896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l"/>
            <a:r>
              <a:rPr sz="1600" b="1" i="0">
                <a:solidFill>
                  <a:srgbClr val="22C1B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Free path — the developer paid Apple $99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9FB0BE"/>
                </a:solidFill>
                <a:latin typeface="Calibri"/>
              </a:rPr>
              <a:t>Install via a QR code this app shows you — nothing to do to your device. Capped at 100 devices worldwide, so it's best for smaller-audience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2C1B6"/>
                </a:solidFill>
                <a:latin typeface="Calibri"/>
              </a:rPr>
              <a:t>TL;DR  · 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How your users install your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9FB0BE"/>
                </a:solidFill>
                <a:latin typeface="Calibri"/>
              </a:rPr>
              <a:t>Two ways to ship — pick based on audience size: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14600"/>
            <a:ext cx="5358384" cy="3291840"/>
          </a:xfrm>
          <a:prstGeom prst="roundRect">
            <a:avLst>
              <a:gd name="adj" fmla="val 4500"/>
            </a:avLst>
          </a:prstGeom>
          <a:solidFill>
            <a:srgbClr val="1E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788920"/>
            <a:ext cx="477316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22C1B6"/>
                </a:solidFill>
                <a:latin typeface="Calibri"/>
              </a:rPr>
              <a:t>OPTION 1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Free Apple ID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9FB0BE"/>
                </a:solidFill>
                <a:latin typeface="Calibri"/>
              </a:rPr>
              <a:t>Your users log into their own free Apple account, enable Developer Mode, trust the key, and install your .ipa over USB from their Mac. It refreshes every 7 days — or yearly if they have a paid $99 Apple ID.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36B37E"/>
                </a:solidFill>
                <a:latin typeface="Calibri"/>
              </a:rPr>
              <a:t>✓  Unlimited 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514600"/>
            <a:ext cx="5358384" cy="3291840"/>
          </a:xfrm>
          <a:prstGeom prst="roundRect">
            <a:avLst>
              <a:gd name="adj" fmla="val 4500"/>
            </a:avLst>
          </a:prstGeom>
          <a:solidFill>
            <a:srgbClr val="22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788920"/>
            <a:ext cx="477316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A33D"/>
                </a:solidFill>
                <a:latin typeface="Calibri"/>
              </a:rPr>
              <a:t>OPTION 2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Paid Apple ID + ad-hoc cert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9FB0BE"/>
                </a:solidFill>
                <a:latin typeface="Calibri"/>
              </a:rPr>
              <a:t>You sign your .ipa with an ad-hoc cert. Your users then install via a QR code iSideload creates — and they don't have to do anything else to their device.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E8A33D"/>
                </a:solidFill>
                <a:latin typeface="Calibri"/>
              </a:rPr>
              <a:t>⚠  Limited to 100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2026-07-12T15:07:23Z</dcterms:created>
  <dcterms:modified xsi:type="dcterms:W3CDTF">2026-07-12T15:07:23Z</dcterms:modified>
</cp:coreProperties>
</file>