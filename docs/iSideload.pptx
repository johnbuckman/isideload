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">
            <a:off x="7955280" y="-1463040"/>
            <a:ext cx="5943600" cy="5943600"/>
          </a:xfrm>
          <a:prstGeom prst="roundRect">
            <a:avLst>
              <a:gd name="adj" fmla="val 9231"/>
            </a:avLst>
          </a:prstGeom>
          <a:solidFill>
            <a:srgbClr val="12395F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3840480" cy="3840480"/>
          </a:xfrm>
          <a:prstGeom prst="ellipse">
            <a:avLst/>
          </a:prstGeom>
          <a:solidFill>
            <a:srgbClr val="0E2742"/>
          </a:solidFill>
          <a:ln/>
        </p:spPr>
      </p:sp>
      <p:pic>
        <p:nvPicPr>
          <p:cNvPr id="4" name="Image 0" descr="/private/tmp/claude-501/-Users-john/8dc8c88d-3caf-49d9-9727-66232cddda4c/scratchpad/isideload-ppt/app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77240"/>
            <a:ext cx="1234440" cy="1234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240280" y="777240"/>
            <a:ext cx="8229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iSideload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868680" y="22860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C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lean, self-contained Mac sideloader for iOS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868680" y="3017520"/>
            <a:ext cx="9326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7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 with a free Apple ID → auto-provision a cert → sign → install to your iPhone or iPad.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7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Xcode. No AltStore server. No Python. One notarized menu-bar app.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68680" y="4480560"/>
            <a:ext cx="1152144" cy="457200"/>
          </a:xfrm>
          <a:prstGeom prst="roundRect">
            <a:avLst>
              <a:gd name="adj" fmla="val 50000"/>
            </a:avLst>
          </a:prstGeom>
          <a:solidFill>
            <a:srgbClr val="13273F"/>
          </a:solidFill>
          <a:ln w="12700">
            <a:solidFill>
              <a:srgbClr val="22C1B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448056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C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v0.1-alpha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2249424" y="4480560"/>
            <a:ext cx="2406701" cy="457200"/>
          </a:xfrm>
          <a:prstGeom prst="roundRect">
            <a:avLst>
              <a:gd name="adj" fmla="val 50000"/>
            </a:avLst>
          </a:prstGeom>
          <a:solidFill>
            <a:srgbClr val="13273F"/>
          </a:solidFill>
          <a:ln w="12700">
            <a:solidFill>
              <a:srgbClr val="39A9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249424" y="4480560"/>
            <a:ext cx="24067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9A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Notarized · Developer ID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884725" y="4480560"/>
            <a:ext cx="972922" cy="457200"/>
          </a:xfrm>
          <a:prstGeom prst="roundRect">
            <a:avLst>
              <a:gd name="adj" fmla="val 50000"/>
            </a:avLst>
          </a:prstGeom>
          <a:solidFill>
            <a:srgbClr val="13273F"/>
          </a:solidFill>
          <a:ln w="12700">
            <a:solidFill>
              <a:srgbClr val="36B37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84725" y="4480560"/>
            <a:ext cx="9729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6B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AGPL-3.0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086246" y="4480560"/>
            <a:ext cx="3123590" cy="457200"/>
          </a:xfrm>
          <a:prstGeom prst="roundRect">
            <a:avLst>
              <a:gd name="adj" fmla="val 50000"/>
            </a:avLst>
          </a:prstGeom>
          <a:solidFill>
            <a:srgbClr val="13273F"/>
          </a:solidFill>
          <a:ln w="12700">
            <a:solidFill>
              <a:srgbClr val="8FA9C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86246" y="4480560"/>
            <a:ext cx="3123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F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github.com/johnbuckman/iSideload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6868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C9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 ·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2C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shipped product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lean-AltServer pipeline works end-to-end and is published as a notarized app.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538728" cy="175564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A2A3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368296"/>
            <a:ext cx="566928" cy="566928"/>
          </a:xfrm>
          <a:prstGeom prst="ellipse">
            <a:avLst/>
          </a:prstGeom>
          <a:solidFill>
            <a:srgbClr val="22C1B6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3682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⤓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54480" y="236829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Free-Apple-ID login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96112" y="3081528"/>
            <a:ext cx="3035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with any Apple ID (SMS 2-factor). iSideload auto-mints a signing certificate and 7-day profile for you.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2148840"/>
            <a:ext cx="3538728" cy="175564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A2A3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44568" y="2368296"/>
            <a:ext cx="566928" cy="566928"/>
          </a:xfrm>
          <a:prstGeom prst="ellipse">
            <a:avLst/>
          </a:prstGeom>
          <a:solidFill>
            <a:srgbClr val="39A9E0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3682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257800" y="236829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 on the Mac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99432" y="3081528"/>
            <a:ext cx="3035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Apple-equivalent signing (zsign) to sign all 64 embedded frameworks — no on-device signer, no Xcode.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2148840"/>
            <a:ext cx="3538728" cy="175564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A2A3A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47888" y="2368296"/>
            <a:ext cx="566928" cy="566928"/>
          </a:xfrm>
          <a:prstGeom prst="ellipse">
            <a:avLst/>
          </a:prstGeom>
          <a:solidFill>
            <a:srgbClr val="12395F"/>
          </a:solidFill>
          <a:ln/>
        </p:spPr>
      </p:sp>
      <p:sp>
        <p:nvSpPr>
          <p:cNvPr id="17" name="Text 15"/>
          <p:cNvSpPr/>
          <p:nvPr/>
        </p:nvSpPr>
        <p:spPr>
          <a:xfrm>
            <a:off x="8247888" y="23682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961120" y="236829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Self-contained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302752" y="3081528"/>
            <a:ext cx="3035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Bundles OpenSSL, libimobiledevice and the signer. No Python, no Homebrew, no AltServer. Just the app.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123944"/>
            <a:ext cx="3538728" cy="175564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A2A3A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" y="4343400"/>
            <a:ext cx="566928" cy="566928"/>
          </a:xfrm>
          <a:prstGeom prst="ellipse">
            <a:avLst/>
          </a:prstGeom>
          <a:solidFill>
            <a:srgbClr val="36B37E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343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554480" y="4343400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Auto-refresh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96112" y="5056632"/>
            <a:ext cx="3035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Re-signs before the 7-day cert expires — on a timer and the moment a device connects.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43400" y="4123944"/>
            <a:ext cx="3538728" cy="175564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A2A3A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44568" y="4343400"/>
            <a:ext cx="566928" cy="566928"/>
          </a:xfrm>
          <a:prstGeom prst="ellipse">
            <a:avLst/>
          </a:prstGeom>
          <a:solidFill>
            <a:srgbClr val="8A5CD1"/>
          </a:solidFill>
          <a:ln/>
        </p:spPr>
      </p:sp>
      <p:sp>
        <p:nvSpPr>
          <p:cNvPr id="27" name="Text 25"/>
          <p:cNvSpPr/>
          <p:nvPr/>
        </p:nvSpPr>
        <p:spPr>
          <a:xfrm>
            <a:off x="4544568" y="4343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⛃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257800" y="4343400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Multi-account &amp; multi-device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4599432" y="5056632"/>
            <a:ext cx="3035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several Apple IDs and several iPhones/iPads from one menu-bar window.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46720" y="4123944"/>
            <a:ext cx="3538728" cy="175564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A2A3A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247888" y="4343400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2" name="Text 30"/>
          <p:cNvSpPr/>
          <p:nvPr/>
        </p:nvSpPr>
        <p:spPr>
          <a:xfrm>
            <a:off x="8247888" y="4343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8961120" y="4343400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Notarized &amp; open source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8302752" y="5056632"/>
            <a:ext cx="3035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v0.1-alpha DMG is notarized (zero Gatekeeper warnings). Public under AGPL-3.0.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2C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login → an app on your device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4332" y="251460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102A47"/>
          </a:solidFill>
          <a:ln w="15875">
            <a:solidFill>
              <a:srgbClr val="22C1B6"/>
            </a:solidFill>
            <a:prstDash val="solid"/>
          </a:ln>
          <a:effectLst>
            <a:outerShdw sx="100000" sy="100000" kx="0" ky="0" algn="bl" rotWithShape="0" blurRad="127000" dist="38100" dir="5400000">
              <a:srgbClr val="1A2A3A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32408" y="2770632"/>
            <a:ext cx="658368" cy="658368"/>
          </a:xfrm>
          <a:prstGeom prst="ellipse">
            <a:avLst/>
          </a:prstGeom>
          <a:solidFill>
            <a:srgbClr val="22C1B6"/>
          </a:solidFill>
          <a:ln/>
        </p:spPr>
      </p:sp>
      <p:sp>
        <p:nvSpPr>
          <p:cNvPr id="6" name="Text 4"/>
          <p:cNvSpPr/>
          <p:nvPr/>
        </p:nvSpPr>
        <p:spPr>
          <a:xfrm>
            <a:off x="1432408" y="277063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4332" y="350215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4332" y="386791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Apple ID</a:t>
            </a:r>
            <a:endParaRPr lang="en-US" sz="11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SMS 2FA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80564" y="3154680"/>
            <a:ext cx="329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2C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2991460" y="251460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102A47"/>
          </a:solidFill>
          <a:ln w="15875">
            <a:solidFill>
              <a:srgbClr val="39A9E0"/>
            </a:solidFill>
            <a:prstDash val="solid"/>
          </a:ln>
          <a:effectLst>
            <a:outerShdw sx="100000" sy="100000" kx="0" ky="0" algn="bl" rotWithShape="0" blurRad="127000" dist="38100" dir="5400000">
              <a:srgbClr val="1A2A3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99536" y="2770632"/>
            <a:ext cx="658368" cy="658368"/>
          </a:xfrm>
          <a:prstGeom prst="ellipse">
            <a:avLst/>
          </a:prstGeom>
          <a:solidFill>
            <a:srgbClr val="39A9E0"/>
          </a:solidFill>
          <a:ln/>
        </p:spPr>
      </p:sp>
      <p:sp>
        <p:nvSpPr>
          <p:cNvPr id="12" name="Text 10"/>
          <p:cNvSpPr/>
          <p:nvPr/>
        </p:nvSpPr>
        <p:spPr>
          <a:xfrm>
            <a:off x="3599536" y="277063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991460" y="350215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991460" y="386791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cert +</a:t>
            </a:r>
            <a:endParaRPr lang="en-US" sz="11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7-day profile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7692" y="3154680"/>
            <a:ext cx="329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9A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158588" y="251460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102A47"/>
          </a:solidFill>
          <a:ln w="15875">
            <a:solidFill>
              <a:srgbClr val="5AA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A2A3A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766664" y="2770632"/>
            <a:ext cx="658368" cy="658368"/>
          </a:xfrm>
          <a:prstGeom prst="ellipse">
            <a:avLst/>
          </a:prstGeom>
          <a:solidFill>
            <a:srgbClr val="5AA9E6"/>
          </a:solidFill>
          <a:ln/>
        </p:spPr>
      </p:sp>
      <p:sp>
        <p:nvSpPr>
          <p:cNvPr id="18" name="Text 16"/>
          <p:cNvSpPr/>
          <p:nvPr/>
        </p:nvSpPr>
        <p:spPr>
          <a:xfrm>
            <a:off x="5766664" y="277063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5158588" y="350215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158588" y="386791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zsign all 64</a:t>
            </a:r>
            <a:endParaRPr lang="en-US" sz="11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014820" y="3154680"/>
            <a:ext cx="329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AA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7325716" y="251460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102A47"/>
          </a:solidFill>
          <a:ln w="15875">
            <a:solidFill>
              <a:srgbClr val="36B37E"/>
            </a:solidFill>
            <a:prstDash val="solid"/>
          </a:ln>
          <a:effectLst>
            <a:outerShdw sx="100000" sy="100000" kx="0" ky="0" algn="bl" rotWithShape="0" blurRad="127000" dist="38100" dir="5400000">
              <a:srgbClr val="1A2A3A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933792" y="2770632"/>
            <a:ext cx="658368" cy="658368"/>
          </a:xfrm>
          <a:prstGeom prst="ellipse">
            <a:avLst/>
          </a:prstGeom>
          <a:solidFill>
            <a:srgbClr val="36B37E"/>
          </a:solidFill>
          <a:ln/>
        </p:spPr>
      </p:sp>
      <p:sp>
        <p:nvSpPr>
          <p:cNvPr id="24" name="Text 22"/>
          <p:cNvSpPr/>
          <p:nvPr/>
        </p:nvSpPr>
        <p:spPr>
          <a:xfrm>
            <a:off x="7933792" y="277063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325716" y="350215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325716" y="386791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libimobiledevice</a:t>
            </a:r>
            <a:endParaRPr lang="en-US" sz="11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USB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81948" y="3154680"/>
            <a:ext cx="329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6B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9492844" y="251460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102A47"/>
          </a:solidFill>
          <a:ln w="15875">
            <a:solidFill>
              <a:srgbClr val="E8A33D"/>
            </a:solidFill>
            <a:prstDash val="solid"/>
          </a:ln>
          <a:effectLst>
            <a:outerShdw sx="100000" sy="100000" kx="0" ky="0" algn="bl" rotWithShape="0" blurRad="127000" dist="38100" dir="5400000">
              <a:srgbClr val="1A2A3A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100920" y="2770632"/>
            <a:ext cx="658368" cy="65836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0" name="Text 28"/>
          <p:cNvSpPr/>
          <p:nvPr/>
        </p:nvSpPr>
        <p:spPr>
          <a:xfrm>
            <a:off x="10100920" y="277063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9492844" y="350215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492844" y="386791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re-sign</a:t>
            </a:r>
            <a:endParaRPr lang="en-US" sz="11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E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expiry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2C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1–2 need you once. After that, refresh runs unattended.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6B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RELIABLE PATH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install is known to 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02920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A2A3A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468880"/>
            <a:ext cx="868680" cy="868680"/>
          </a:xfrm>
          <a:prstGeom prst="ellipse">
            <a:avLst/>
          </a:prstGeom>
          <a:solidFill>
            <a:srgbClr val="36B37E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4688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11680" y="2487168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B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reliable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60120" y="35661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the device in, and the full flow — trust, sign, install — just works.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0120" y="448056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9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60120" y="51389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USB install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32888" y="448056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9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532888" y="51389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signed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05656" y="448056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9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26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105656" y="51389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end-to-end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89320" y="2194560"/>
            <a:ext cx="5532120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A2A3A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36208" y="2505456"/>
            <a:ext cx="548640" cy="548640"/>
          </a:xfrm>
          <a:prstGeom prst="ellipse">
            <a:avLst/>
          </a:prstGeom>
          <a:solidFill>
            <a:srgbClr val="36B37E"/>
          </a:solidFill>
          <a:ln/>
        </p:spPr>
      </p:sp>
      <p:sp>
        <p:nvSpPr>
          <p:cNvPr id="17" name="Text 15"/>
          <p:cNvSpPr/>
          <p:nvPr/>
        </p:nvSpPr>
        <p:spPr>
          <a:xfrm>
            <a:off x="6236208" y="2505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949440" y="23774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Auto-trust on first plug-in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949440" y="2798064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iSideload flips on Wi-Fi visibility over the cable, so no manual setup.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89320" y="3547872"/>
            <a:ext cx="5532120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A2A3A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36208" y="3858768"/>
            <a:ext cx="548640" cy="548640"/>
          </a:xfrm>
          <a:prstGeom prst="ellipse">
            <a:avLst/>
          </a:prstGeom>
          <a:solidFill>
            <a:srgbClr val="36B37E"/>
          </a:solidFill>
          <a:ln/>
        </p:spPr>
      </p:sp>
      <p:sp>
        <p:nvSpPr>
          <p:cNvPr id="22" name="Text 20"/>
          <p:cNvSpPr/>
          <p:nvPr/>
        </p:nvSpPr>
        <p:spPr>
          <a:xfrm>
            <a:off x="6236208" y="38587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949440" y="37307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&amp; deterministic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6949440" y="4151376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76 MB app installs in ~3.5 s. No flaky discovery, no timeouts.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989320" y="4901184"/>
            <a:ext cx="5532120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A2A3A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236208" y="5212080"/>
            <a:ext cx="548640" cy="548640"/>
          </a:xfrm>
          <a:prstGeom prst="ellipse">
            <a:avLst/>
          </a:prstGeom>
          <a:solidFill>
            <a:srgbClr val="36B37E"/>
          </a:solidFill>
          <a:ln/>
        </p:spPr>
      </p:sp>
      <p:sp>
        <p:nvSpPr>
          <p:cNvPr id="27" name="Text 25"/>
          <p:cNvSpPr/>
          <p:nvPr/>
        </p:nvSpPr>
        <p:spPr>
          <a:xfrm>
            <a:off x="6236208" y="5212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949440" y="50840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guaranteed fallback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6949440" y="5504688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Whenever Wi-Fi refresh can't reach a device, USB always completes.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5C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ACCOUNTS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Apple IDs for more apps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Apple ID signs 3 apps at a time. Add another account and you add another 3 slots — all managed in one window.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A2A3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286000"/>
            <a:ext cx="3383280" cy="777240"/>
          </a:xfrm>
          <a:prstGeom prst="roundRect">
            <a:avLst>
              <a:gd name="adj" fmla="val 14118"/>
            </a:avLst>
          </a:prstGeom>
          <a:solidFill>
            <a:srgbClr val="6E48C9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697480"/>
            <a:ext cx="3383280" cy="365760"/>
          </a:xfrm>
          <a:prstGeom prst="rect">
            <a:avLst/>
          </a:prstGeom>
          <a:solidFill>
            <a:srgbClr val="6E48C9"/>
          </a:solidFill>
          <a:ln/>
        </p:spPr>
      </p:sp>
      <p:sp>
        <p:nvSpPr>
          <p:cNvPr id="8" name="Shape 6"/>
          <p:cNvSpPr/>
          <p:nvPr/>
        </p:nvSpPr>
        <p:spPr>
          <a:xfrm>
            <a:off x="841248" y="245973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24597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286000"/>
            <a:ext cx="9144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417320" y="22860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ID #1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25420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417320" y="268833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4D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3 slots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" y="3246120"/>
            <a:ext cx="2871216" cy="566928"/>
          </a:xfrm>
          <a:prstGeom prst="roundRect">
            <a:avLst>
              <a:gd name="adj" fmla="val 12903"/>
            </a:avLst>
          </a:prstGeom>
          <a:solidFill>
            <a:srgbClr val="E7EFF7"/>
          </a:solidFill>
          <a:ln/>
        </p:spPr>
      </p:sp>
      <p:sp>
        <p:nvSpPr>
          <p:cNvPr id="15" name="Shape 13"/>
          <p:cNvSpPr/>
          <p:nvPr/>
        </p:nvSpPr>
        <p:spPr>
          <a:xfrm>
            <a:off x="1024128" y="3364992"/>
            <a:ext cx="329184" cy="329184"/>
          </a:xfrm>
          <a:prstGeom prst="ellipse">
            <a:avLst/>
          </a:prstGeom>
          <a:solidFill>
            <a:srgbClr val="8A5CD1"/>
          </a:solidFill>
          <a:ln/>
        </p:spPr>
      </p:sp>
      <p:sp>
        <p:nvSpPr>
          <p:cNvPr id="16" name="Text 14"/>
          <p:cNvSpPr/>
          <p:nvPr/>
        </p:nvSpPr>
        <p:spPr>
          <a:xfrm>
            <a:off x="1024128" y="3364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508760" y="32461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iWish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96112" y="3959352"/>
            <a:ext cx="2871216" cy="566928"/>
          </a:xfrm>
          <a:prstGeom prst="roundRect">
            <a:avLst>
              <a:gd name="adj" fmla="val 12903"/>
            </a:avLst>
          </a:prstGeom>
          <a:solidFill>
            <a:srgbClr val="E7EFF7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4128" y="4078224"/>
            <a:ext cx="329184" cy="329184"/>
          </a:xfrm>
          <a:prstGeom prst="ellipse">
            <a:avLst/>
          </a:prstGeom>
          <a:solidFill>
            <a:srgbClr val="8A5CD1"/>
          </a:solidFill>
          <a:ln/>
        </p:spPr>
      </p:sp>
      <p:sp>
        <p:nvSpPr>
          <p:cNvPr id="20" name="Text 18"/>
          <p:cNvSpPr/>
          <p:nvPr/>
        </p:nvSpPr>
        <p:spPr>
          <a:xfrm>
            <a:off x="1024128" y="40782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508760" y="39593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de1app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96112" y="4672584"/>
            <a:ext cx="2871216" cy="566928"/>
          </a:xfrm>
          <a:prstGeom prst="roundRect">
            <a:avLst>
              <a:gd name="adj" fmla="val 12903"/>
            </a:avLst>
          </a:prstGeom>
          <a:solidFill>
            <a:srgbClr val="E7EFF7"/>
          </a:solidFill>
          <a:ln/>
        </p:spPr>
      </p:sp>
      <p:sp>
        <p:nvSpPr>
          <p:cNvPr id="23" name="Shape 21"/>
          <p:cNvSpPr/>
          <p:nvPr/>
        </p:nvSpPr>
        <p:spPr>
          <a:xfrm>
            <a:off x="1024128" y="4791456"/>
            <a:ext cx="329184" cy="329184"/>
          </a:xfrm>
          <a:prstGeom prst="ellipse">
            <a:avLst/>
          </a:prstGeom>
          <a:solidFill>
            <a:srgbClr val="8A5CD1"/>
          </a:solidFill>
          <a:ln/>
        </p:spPr>
      </p:sp>
      <p:sp>
        <p:nvSpPr>
          <p:cNvPr id="24" name="Text 22"/>
          <p:cNvSpPr/>
          <p:nvPr/>
        </p:nvSpPr>
        <p:spPr>
          <a:xfrm>
            <a:off x="1024128" y="4791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508760" y="46725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526280" y="228600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A2A3A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26280" y="2286000"/>
            <a:ext cx="3383280" cy="777240"/>
          </a:xfrm>
          <a:prstGeom prst="roundRect">
            <a:avLst>
              <a:gd name="adj" fmla="val 14118"/>
            </a:avLst>
          </a:prstGeom>
          <a:solidFill>
            <a:srgbClr val="6E48C9"/>
          </a:solidFill>
          <a:ln/>
        </p:spPr>
      </p:sp>
      <p:sp>
        <p:nvSpPr>
          <p:cNvPr id="28" name="Shape 26"/>
          <p:cNvSpPr/>
          <p:nvPr/>
        </p:nvSpPr>
        <p:spPr>
          <a:xfrm>
            <a:off x="4526280" y="2697480"/>
            <a:ext cx="3383280" cy="365760"/>
          </a:xfrm>
          <a:prstGeom prst="rect">
            <a:avLst/>
          </a:prstGeom>
          <a:solidFill>
            <a:srgbClr val="6E48C9"/>
          </a:solidFill>
          <a:ln/>
        </p:spPr>
      </p:sp>
      <p:sp>
        <p:nvSpPr>
          <p:cNvPr id="29" name="Shape 27"/>
          <p:cNvSpPr/>
          <p:nvPr/>
        </p:nvSpPr>
        <p:spPr>
          <a:xfrm>
            <a:off x="4727448" y="245973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727448" y="24597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26280" y="2286000"/>
            <a:ext cx="9144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303520" y="22860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ID #2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800600" y="25420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303520" y="268833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4D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3 slots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782312" y="3246120"/>
            <a:ext cx="2871216" cy="566928"/>
          </a:xfrm>
          <a:prstGeom prst="roundRect">
            <a:avLst>
              <a:gd name="adj" fmla="val 12903"/>
            </a:avLst>
          </a:prstGeom>
          <a:solidFill>
            <a:srgbClr val="E7EFF7"/>
          </a:solidFill>
          <a:ln/>
        </p:spPr>
      </p:sp>
      <p:sp>
        <p:nvSpPr>
          <p:cNvPr id="36" name="Shape 34"/>
          <p:cNvSpPr/>
          <p:nvPr/>
        </p:nvSpPr>
        <p:spPr>
          <a:xfrm>
            <a:off x="4910328" y="3364992"/>
            <a:ext cx="329184" cy="329184"/>
          </a:xfrm>
          <a:prstGeom prst="ellipse">
            <a:avLst/>
          </a:prstGeom>
          <a:solidFill>
            <a:srgbClr val="8A5CD1"/>
          </a:solidFill>
          <a:ln/>
        </p:spPr>
      </p:sp>
      <p:sp>
        <p:nvSpPr>
          <p:cNvPr id="37" name="Text 35"/>
          <p:cNvSpPr/>
          <p:nvPr/>
        </p:nvSpPr>
        <p:spPr>
          <a:xfrm>
            <a:off x="4910328" y="3364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394960" y="32461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four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4782312" y="3959352"/>
            <a:ext cx="2871216" cy="566928"/>
          </a:xfrm>
          <a:prstGeom prst="roundRect">
            <a:avLst>
              <a:gd name="adj" fmla="val 12903"/>
            </a:avLst>
          </a:prstGeom>
          <a:solidFill>
            <a:srgbClr val="E7EFF7"/>
          </a:solidFill>
          <a:ln/>
        </p:spPr>
      </p:sp>
      <p:sp>
        <p:nvSpPr>
          <p:cNvPr id="40" name="Shape 38"/>
          <p:cNvSpPr/>
          <p:nvPr/>
        </p:nvSpPr>
        <p:spPr>
          <a:xfrm>
            <a:off x="4910328" y="4078224"/>
            <a:ext cx="329184" cy="329184"/>
          </a:xfrm>
          <a:prstGeom prst="ellipse">
            <a:avLst/>
          </a:prstGeom>
          <a:solidFill>
            <a:srgbClr val="8A5CD1"/>
          </a:solidFill>
          <a:ln/>
        </p:spPr>
      </p:sp>
      <p:sp>
        <p:nvSpPr>
          <p:cNvPr id="41" name="Text 39"/>
          <p:cNvSpPr/>
          <p:nvPr/>
        </p:nvSpPr>
        <p:spPr>
          <a:xfrm>
            <a:off x="4910328" y="40782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394960" y="39593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five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4782312" y="4672584"/>
            <a:ext cx="2871216" cy="566928"/>
          </a:xfrm>
          <a:prstGeom prst="roundRect">
            <a:avLst>
              <a:gd name="adj" fmla="val 12903"/>
            </a:avLst>
          </a:prstGeom>
          <a:solidFill>
            <a:srgbClr val="E7EFF7"/>
          </a:solidFill>
          <a:ln/>
        </p:spPr>
      </p:sp>
      <p:sp>
        <p:nvSpPr>
          <p:cNvPr id="44" name="Shape 42"/>
          <p:cNvSpPr/>
          <p:nvPr/>
        </p:nvSpPr>
        <p:spPr>
          <a:xfrm>
            <a:off x="4910328" y="4791456"/>
            <a:ext cx="329184" cy="329184"/>
          </a:xfrm>
          <a:prstGeom prst="ellipse">
            <a:avLst/>
          </a:prstGeom>
          <a:solidFill>
            <a:srgbClr val="8A5CD1"/>
          </a:solidFill>
          <a:ln/>
        </p:spPr>
      </p:sp>
      <p:sp>
        <p:nvSpPr>
          <p:cNvPr id="45" name="Text 43"/>
          <p:cNvSpPr/>
          <p:nvPr/>
        </p:nvSpPr>
        <p:spPr>
          <a:xfrm>
            <a:off x="4910328" y="4791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394960" y="46725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six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8412480" y="228600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A2A3A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8412480" y="2286000"/>
            <a:ext cx="3383280" cy="777240"/>
          </a:xfrm>
          <a:prstGeom prst="roundRect">
            <a:avLst>
              <a:gd name="adj" fmla="val 14118"/>
            </a:avLst>
          </a:prstGeom>
          <a:solidFill>
            <a:srgbClr val="6E48C9"/>
          </a:solidFill>
          <a:ln/>
        </p:spPr>
      </p:sp>
      <p:sp>
        <p:nvSpPr>
          <p:cNvPr id="49" name="Shape 47"/>
          <p:cNvSpPr/>
          <p:nvPr/>
        </p:nvSpPr>
        <p:spPr>
          <a:xfrm>
            <a:off x="8412480" y="2697480"/>
            <a:ext cx="3383280" cy="365760"/>
          </a:xfrm>
          <a:prstGeom prst="rect">
            <a:avLst/>
          </a:prstGeom>
          <a:solidFill>
            <a:srgbClr val="6E48C9"/>
          </a:solidFill>
          <a:ln/>
        </p:spPr>
      </p:sp>
      <p:sp>
        <p:nvSpPr>
          <p:cNvPr id="50" name="Shape 48"/>
          <p:cNvSpPr/>
          <p:nvPr/>
        </p:nvSpPr>
        <p:spPr>
          <a:xfrm>
            <a:off x="8613648" y="245973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8613648" y="24597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8412480" y="2286000"/>
            <a:ext cx="9144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9189720" y="22860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ID #3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8686800" y="25420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9189720" y="268833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4D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3 slots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8668512" y="3246120"/>
            <a:ext cx="2871216" cy="566928"/>
          </a:xfrm>
          <a:prstGeom prst="roundRect">
            <a:avLst>
              <a:gd name="adj" fmla="val 12903"/>
            </a:avLst>
          </a:prstGeom>
          <a:solidFill>
            <a:srgbClr val="E7EFF7"/>
          </a:solidFill>
          <a:ln/>
        </p:spPr>
      </p:sp>
      <p:sp>
        <p:nvSpPr>
          <p:cNvPr id="57" name="Shape 55"/>
          <p:cNvSpPr/>
          <p:nvPr/>
        </p:nvSpPr>
        <p:spPr>
          <a:xfrm>
            <a:off x="8796528" y="3364992"/>
            <a:ext cx="329184" cy="329184"/>
          </a:xfrm>
          <a:prstGeom prst="ellipse">
            <a:avLst/>
          </a:prstGeom>
          <a:solidFill>
            <a:srgbClr val="8A5CD1"/>
          </a:solidFill>
          <a:ln/>
        </p:spPr>
      </p:sp>
      <p:sp>
        <p:nvSpPr>
          <p:cNvPr id="58" name="Text 56"/>
          <p:cNvSpPr/>
          <p:nvPr/>
        </p:nvSpPr>
        <p:spPr>
          <a:xfrm>
            <a:off x="8796528" y="3364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9281160" y="32461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seven</a:t>
            </a:r>
            <a:endParaRPr lang="en-US" sz="1350" dirty="0"/>
          </a:p>
        </p:txBody>
      </p:sp>
      <p:sp>
        <p:nvSpPr>
          <p:cNvPr id="60" name="Shape 58"/>
          <p:cNvSpPr/>
          <p:nvPr/>
        </p:nvSpPr>
        <p:spPr>
          <a:xfrm>
            <a:off x="8668512" y="3959352"/>
            <a:ext cx="2871216" cy="566928"/>
          </a:xfrm>
          <a:prstGeom prst="roundRect">
            <a:avLst>
              <a:gd name="adj" fmla="val 12903"/>
            </a:avLst>
          </a:prstGeom>
          <a:solidFill>
            <a:srgbClr val="E7EFF7"/>
          </a:solidFill>
          <a:ln/>
        </p:spPr>
      </p:sp>
      <p:sp>
        <p:nvSpPr>
          <p:cNvPr id="61" name="Shape 59"/>
          <p:cNvSpPr/>
          <p:nvPr/>
        </p:nvSpPr>
        <p:spPr>
          <a:xfrm>
            <a:off x="8796528" y="4078224"/>
            <a:ext cx="329184" cy="329184"/>
          </a:xfrm>
          <a:prstGeom prst="ellipse">
            <a:avLst/>
          </a:prstGeom>
          <a:solidFill>
            <a:srgbClr val="8A5CD1"/>
          </a:solidFill>
          <a:ln/>
        </p:spPr>
      </p:sp>
      <p:sp>
        <p:nvSpPr>
          <p:cNvPr id="62" name="Text 60"/>
          <p:cNvSpPr/>
          <p:nvPr/>
        </p:nvSpPr>
        <p:spPr>
          <a:xfrm>
            <a:off x="8796528" y="40782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9281160" y="39593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eight</a:t>
            </a:r>
            <a:endParaRPr lang="en-US" sz="1350" dirty="0"/>
          </a:p>
        </p:txBody>
      </p:sp>
      <p:sp>
        <p:nvSpPr>
          <p:cNvPr id="64" name="Shape 62"/>
          <p:cNvSpPr/>
          <p:nvPr/>
        </p:nvSpPr>
        <p:spPr>
          <a:xfrm>
            <a:off x="8668512" y="4672584"/>
            <a:ext cx="2871216" cy="566928"/>
          </a:xfrm>
          <a:prstGeom prst="roundRect">
            <a:avLst>
              <a:gd name="adj" fmla="val 12903"/>
            </a:avLst>
          </a:prstGeom>
          <a:solidFill>
            <a:srgbClr val="E7EFF7"/>
          </a:solidFill>
          <a:ln/>
        </p:spPr>
      </p:sp>
      <p:sp>
        <p:nvSpPr>
          <p:cNvPr id="65" name="Shape 63"/>
          <p:cNvSpPr/>
          <p:nvPr/>
        </p:nvSpPr>
        <p:spPr>
          <a:xfrm>
            <a:off x="8796528" y="4791456"/>
            <a:ext cx="329184" cy="329184"/>
          </a:xfrm>
          <a:prstGeom prst="ellipse">
            <a:avLst/>
          </a:prstGeom>
          <a:solidFill>
            <a:srgbClr val="8A5CD1"/>
          </a:solidFill>
          <a:ln/>
        </p:spPr>
      </p:sp>
      <p:sp>
        <p:nvSpPr>
          <p:cNvPr id="66" name="Text 64"/>
          <p:cNvSpPr/>
          <p:nvPr/>
        </p:nvSpPr>
        <p:spPr>
          <a:xfrm>
            <a:off x="8796528" y="4791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9281160" y="46725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nine</a:t>
            </a:r>
            <a:endParaRPr lang="en-US" sz="1350" dirty="0"/>
          </a:p>
        </p:txBody>
      </p:sp>
      <p:sp>
        <p:nvSpPr>
          <p:cNvPr id="68" name="Shape 66"/>
          <p:cNvSpPr/>
          <p:nvPr/>
        </p:nvSpPr>
        <p:spPr>
          <a:xfrm>
            <a:off x="640080" y="5760720"/>
            <a:ext cx="10908792" cy="777240"/>
          </a:xfrm>
          <a:prstGeom prst="roundRect">
            <a:avLst>
              <a:gd name="adj" fmla="val 14118"/>
            </a:avLst>
          </a:prstGeom>
          <a:solidFill>
            <a:srgbClr val="EDE6FA"/>
          </a:solidFill>
          <a:ln/>
          <a:effectLst>
            <a:outerShdw sx="100000" sy="100000" kx="0" ky="0" algn="bl" rotWithShape="0" blurRad="127000" dist="38100" dir="5400000">
              <a:srgbClr val="1A2A3A">
                <a:alpha val="18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868680" y="5943600"/>
            <a:ext cx="411480" cy="411480"/>
          </a:xfrm>
          <a:prstGeom prst="ellipse">
            <a:avLst/>
          </a:prstGeom>
          <a:solidFill>
            <a:srgbClr val="6E48C9"/>
          </a:solidFill>
          <a:ln/>
        </p:spPr>
      </p:sp>
      <p:sp>
        <p:nvSpPr>
          <p:cNvPr id="70" name="Text 68"/>
          <p:cNvSpPr/>
          <p:nvPr/>
        </p:nvSpPr>
        <p:spPr>
          <a:xfrm>
            <a:off x="868680" y="5943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1" name="Text 69"/>
          <p:cNvSpPr/>
          <p:nvPr/>
        </p:nvSpPr>
        <p:spPr>
          <a:xfrm>
            <a:off x="1417320" y="576072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A2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cert per account, persisted and reused — </a:t>
            </a:r>
            <a:pPr indent="0" marL="0">
              <a:buNone/>
            </a:pPr>
            <a:r>
              <a:rPr lang="en-US" sz="1350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re-signing one app never invalidates its siblings.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DEVELOPER ACCOUNT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 / year lifts every limit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login works with a paid Apple Developer account — iSideload reads it automatically and unlocks the paid tier.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303520" cy="3794760"/>
          </a:xfrm>
          <a:prstGeom prst="roundRect">
            <a:avLst>
              <a:gd name="adj" fmla="val 3373"/>
            </a:avLst>
          </a:prstGeom>
          <a:solidFill>
            <a:srgbClr val="0E2440"/>
          </a:solidFill>
          <a:ln w="12700">
            <a:solidFill>
              <a:srgbClr val="24435F"/>
            </a:solidFill>
            <a:prstDash val="solid"/>
          </a:ln>
          <a:effectLst>
            <a:outerShdw sx="100000" sy="100000" kx="0" ky="0" algn="bl" rotWithShape="0" blurRad="127000" dist="38100" dir="5400000">
              <a:srgbClr val="1A2A3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606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Apple ID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005840" y="3355848"/>
            <a:ext cx="384048" cy="384048"/>
          </a:xfrm>
          <a:prstGeom prst="ellipse">
            <a:avLst/>
          </a:prstGeom>
          <a:solidFill>
            <a:srgbClr val="5B6B7B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355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554480" y="328269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7-day signing window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554480" y="35935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stop opening after a week unless refreshed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005840" y="4014216"/>
            <a:ext cx="384048" cy="384048"/>
          </a:xfrm>
          <a:prstGeom prst="ellipse">
            <a:avLst/>
          </a:prstGeom>
          <a:solidFill>
            <a:srgbClr val="5B6B7B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4014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554480" y="394106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apps per account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554480" y="4251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accounts to get more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005840" y="4672584"/>
            <a:ext cx="384048" cy="384048"/>
          </a:xfrm>
          <a:prstGeom prst="ellipse">
            <a:avLst/>
          </a:prstGeom>
          <a:solidFill>
            <a:srgbClr val="5B6B7B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54480" y="45994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App IDs / week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554480" y="4910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bundle IDs are rate-limited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45352" y="2286000"/>
            <a:ext cx="5303520" cy="3794760"/>
          </a:xfrm>
          <a:prstGeom prst="roundRect">
            <a:avLst>
              <a:gd name="adj" fmla="val 3373"/>
            </a:avLst>
          </a:prstGeom>
          <a:solidFill>
            <a:srgbClr val="10314F"/>
          </a:solidFill>
          <a:ln w="25400">
            <a:solidFill>
              <a:srgbClr val="E8A33D"/>
            </a:solidFill>
            <a:prstDash val="solid"/>
          </a:ln>
          <a:effectLst>
            <a:outerShdw sx="100000" sy="100000" kx="0" ky="0" algn="bl" rotWithShape="0" blurRad="127000" dist="38100" dir="5400000">
              <a:srgbClr val="1A2A3A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611112" y="2606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— $99/yr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611112" y="3355848"/>
            <a:ext cx="384048" cy="384048"/>
          </a:xfrm>
          <a:prstGeom prst="ellipse">
            <a:avLst/>
          </a:prstGeom>
          <a:solidFill>
            <a:srgbClr val="36B37E"/>
          </a:solidFill>
          <a:ln/>
        </p:spPr>
      </p:sp>
      <p:sp>
        <p:nvSpPr>
          <p:cNvPr id="22" name="Text 20"/>
          <p:cNvSpPr/>
          <p:nvPr/>
        </p:nvSpPr>
        <p:spPr>
          <a:xfrm>
            <a:off x="6611112" y="3355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159752" y="328269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1-year signing window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159752" y="35935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once, use for a full year — refresh almost never needed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611112" y="4014216"/>
            <a:ext cx="384048" cy="384048"/>
          </a:xfrm>
          <a:prstGeom prst="ellipse">
            <a:avLst/>
          </a:prstGeom>
          <a:solidFill>
            <a:srgbClr val="36B37E"/>
          </a:solidFill>
          <a:ln/>
        </p:spPr>
      </p:sp>
      <p:sp>
        <p:nvSpPr>
          <p:cNvPr id="26" name="Text 24"/>
          <p:cNvSpPr/>
          <p:nvPr/>
        </p:nvSpPr>
        <p:spPr>
          <a:xfrm>
            <a:off x="6611112" y="4014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159752" y="394106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apps &amp; App IDs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7159752" y="4251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for many apps without juggling accounts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611112" y="4672584"/>
            <a:ext cx="384048" cy="384048"/>
          </a:xfrm>
          <a:prstGeom prst="ellipse">
            <a:avLst/>
          </a:prstGeom>
          <a:solidFill>
            <a:srgbClr val="36B37E"/>
          </a:solidFill>
          <a:ln/>
        </p:spPr>
      </p:sp>
      <p:sp>
        <p:nvSpPr>
          <p:cNvPr id="30" name="Text 28"/>
          <p:cNvSpPr/>
          <p:nvPr/>
        </p:nvSpPr>
        <p:spPr>
          <a:xfrm>
            <a:off x="6611112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159752" y="45994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Rock-solid for daily use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7159752" y="4910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apps you actually depend on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iSideload shows a per-account validity badge — "7 days" for free, "1 year" for paid — so you always know which you're on.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9A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menu-bar app that manages itself</a:t>
            </a:r>
            <a:endParaRPr lang="en-US" sz="3400" dirty="0"/>
          </a:p>
        </p:txBody>
      </p:sp>
      <p:pic>
        <p:nvPicPr>
          <p:cNvPr id="4" name="Image 0" descr="/private/tmp/claude-501/-Users-john/8dc8c88d-3caf-49d9-9727-66232cddda4c/scratchpad/isideload-ppt/app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2468880"/>
            <a:ext cx="3108960" cy="3108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7150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iSideload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61722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in your Mac menu bar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035040" y="21488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window gives you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035040" y="2715768"/>
            <a:ext cx="457200" cy="457200"/>
          </a:xfrm>
          <a:prstGeom prst="ellipse">
            <a:avLst/>
          </a:prstGeom>
          <a:solidFill>
            <a:srgbClr val="39A9E0"/>
          </a:solidFill>
          <a:ln/>
        </p:spPr>
      </p:sp>
      <p:sp>
        <p:nvSpPr>
          <p:cNvPr id="9" name="Text 6"/>
          <p:cNvSpPr/>
          <p:nvPr/>
        </p:nvSpPr>
        <p:spPr>
          <a:xfrm>
            <a:off x="6035040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629400" y="264261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in the menu bar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629400" y="297180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Dock clutter — a shipping-box icon you click when you need it.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035040" y="3429000"/>
            <a:ext cx="457200" cy="457200"/>
          </a:xfrm>
          <a:prstGeom prst="ellipse">
            <a:avLst/>
          </a:prstGeom>
          <a:solidFill>
            <a:srgbClr val="12395F"/>
          </a:solidFill>
          <a:ln/>
        </p:spPr>
      </p:sp>
      <p:sp>
        <p:nvSpPr>
          <p:cNvPr id="13" name="Text 10"/>
          <p:cNvSpPr/>
          <p:nvPr/>
        </p:nvSpPr>
        <p:spPr>
          <a:xfrm>
            <a:off x="60350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629400" y="335584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Per-app management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629400" y="3685032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app shows its device, expiry countdown, Refresh and Remove.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035040" y="4142232"/>
            <a:ext cx="457200" cy="457200"/>
          </a:xfrm>
          <a:prstGeom prst="ellipse">
            <a:avLst/>
          </a:prstGeom>
          <a:solidFill>
            <a:srgbClr val="8A5CD1"/>
          </a:solidFill>
          <a:ln/>
        </p:spPr>
      </p:sp>
      <p:sp>
        <p:nvSpPr>
          <p:cNvPr id="17" name="Text 14"/>
          <p:cNvSpPr/>
          <p:nvPr/>
        </p:nvSpPr>
        <p:spPr>
          <a:xfrm>
            <a:off x="603504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629400" y="4069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Slots &amp; validity at a glance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629400" y="439826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"2 / 3 slots", "7 days" vs "1 year" badges per account.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035040" y="4855464"/>
            <a:ext cx="457200" cy="457200"/>
          </a:xfrm>
          <a:prstGeom prst="ellipse">
            <a:avLst/>
          </a:prstGeom>
          <a:solidFill>
            <a:srgbClr val="36B37E"/>
          </a:solidFill>
          <a:ln/>
        </p:spPr>
      </p:sp>
      <p:sp>
        <p:nvSpPr>
          <p:cNvPr id="21" name="Text 18"/>
          <p:cNvSpPr/>
          <p:nvPr/>
        </p:nvSpPr>
        <p:spPr>
          <a:xfrm>
            <a:off x="6035040" y="4855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62940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from URL, .json or .ipa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6629400" y="5111496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an AltStore-style source, or pick an IPA from disk.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035040" y="5568696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5" name="Text 22"/>
          <p:cNvSpPr/>
          <p:nvPr/>
        </p:nvSpPr>
        <p:spPr>
          <a:xfrm>
            <a:off x="6035040" y="5568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629400" y="549554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Launches at login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629400" y="5824728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Registers itself so refresh keeps running quietly in the background.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PROGRESS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 updating — still being solved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goal: refresh apps over Wi-Fi so you never re-plug. Discovery works; the install path is fighting the home network.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394960" cy="39776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A2A3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194560"/>
            <a:ext cx="5394960" cy="685800"/>
          </a:xfrm>
          <a:prstGeom prst="roundRect">
            <a:avLst>
              <a:gd name="adj" fmla="val 16000"/>
            </a:avLst>
          </a:prstGeom>
          <a:solidFill>
            <a:srgbClr val="36B37E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542032"/>
            <a:ext cx="5394960" cy="338328"/>
          </a:xfrm>
          <a:prstGeom prst="rect">
            <a:avLst/>
          </a:prstGeom>
          <a:solidFill>
            <a:srgbClr val="36B37E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235915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359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B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1945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working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914400" y="3108960"/>
            <a:ext cx="384048" cy="384048"/>
          </a:xfrm>
          <a:prstGeom prst="ellipse">
            <a:avLst/>
          </a:prstGeom>
          <a:solidFill>
            <a:srgbClr val="36B37E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63040" y="30175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 install on iOS 26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463040" y="3355848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Verified: a signed app installs over Wi-Fi in ~14 s when the device is reachable and unlocked.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14400" y="4069080"/>
            <a:ext cx="384048" cy="384048"/>
          </a:xfrm>
          <a:prstGeom prst="ellipse">
            <a:avLst/>
          </a:prstGeom>
          <a:solidFill>
            <a:srgbClr val="36B37E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63040" y="39776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Device→Mac beacon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463040" y="4315968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on-device ping reaches the Mac straight through the mesh — the Mac learns the device IP with zero scanning.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5029200"/>
            <a:ext cx="384048" cy="384048"/>
          </a:xfrm>
          <a:prstGeom prst="ellipse">
            <a:avLst/>
          </a:prstGeom>
          <a:solidFill>
            <a:srgbClr val="36B37E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63040" y="49377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Direct-IP / subnet sweep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463040" y="5276088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DHCP and mesh Wi-Fi by connecting to the device by IP, bypassing Apple's flaky Bonjour discovery.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53912" y="2194560"/>
            <a:ext cx="5394960" cy="39776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A2A3A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153912" y="2194560"/>
            <a:ext cx="5394960" cy="685800"/>
          </a:xfrm>
          <a:prstGeom prst="roundRect">
            <a:avLst>
              <a:gd name="adj" fmla="val 16000"/>
            </a:avLst>
          </a:prstGeom>
          <a:solidFill>
            <a:srgbClr val="E8A33D"/>
          </a:solidFill>
          <a:ln/>
        </p:spPr>
      </p:sp>
      <p:sp>
        <p:nvSpPr>
          <p:cNvPr id="25" name="Shape 23"/>
          <p:cNvSpPr/>
          <p:nvPr/>
        </p:nvSpPr>
        <p:spPr>
          <a:xfrm>
            <a:off x="6153912" y="2542032"/>
            <a:ext cx="5394960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6" name="Shape 24"/>
          <p:cNvSpPr/>
          <p:nvPr/>
        </p:nvSpPr>
        <p:spPr>
          <a:xfrm>
            <a:off x="6382512" y="235915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6382512" y="2359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885432" y="21945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blocker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6428232" y="310896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0" name="Text 28"/>
          <p:cNvSpPr/>
          <p:nvPr/>
        </p:nvSpPr>
        <p:spPr>
          <a:xfrm>
            <a:off x="6428232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976872" y="30175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Mac→device high ports get reset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976872" y="3355848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home Eero mesh, the dynamic install ports are intermittently blocked, even with the device awake and unlocked.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28232" y="406908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4" name="Text 32"/>
          <p:cNvSpPr/>
          <p:nvPr/>
        </p:nvSpPr>
        <p:spPr>
          <a:xfrm>
            <a:off x="6428232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976872" y="39776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sandbox blocks self-install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6976872" y="4315968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on-device app can't reach the device's own install service, so a simple relay isn't possible.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28232" y="50292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8" name="Text 36"/>
          <p:cNvSpPr/>
          <p:nvPr/>
        </p:nvSpPr>
        <p:spPr>
          <a:xfrm>
            <a:off x="6428232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976872" y="49377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a device-initiated tunnel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6976872" y="5276088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Outbound-from-device path (SideStore-style) to sidestep the inbound block — the piece being prototyped now.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280160"/>
            <a:ext cx="5029200" cy="5029200"/>
          </a:xfrm>
          <a:prstGeom prst="ellipse">
            <a:avLst/>
          </a:prstGeom>
          <a:solidFill>
            <a:srgbClr val="0E2742"/>
          </a:solidFill>
          <a:ln/>
        </p:spPr>
      </p:sp>
      <p:pic>
        <p:nvPicPr>
          <p:cNvPr id="3" name="Image 0" descr="/private/tmp/claude-501/-Users-john/8dc8c88d-3caf-49d9-9727-66232cddda4c/scratchpad/isideload-ppt/app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3152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03120" y="7315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iSideload stands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822960" y="2148840"/>
            <a:ext cx="7680960" cy="822960"/>
          </a:xfrm>
          <a:prstGeom prst="roundRect">
            <a:avLst>
              <a:gd name="adj" fmla="val 11111"/>
            </a:avLst>
          </a:prstGeom>
          <a:solidFill>
            <a:srgbClr val="102A47"/>
          </a:solidFill>
          <a:ln/>
        </p:spPr>
      </p:sp>
      <p:sp>
        <p:nvSpPr>
          <p:cNvPr id="6" name="Shape 3"/>
          <p:cNvSpPr/>
          <p:nvPr/>
        </p:nvSpPr>
        <p:spPr>
          <a:xfrm>
            <a:off x="1024128" y="2322576"/>
            <a:ext cx="475488" cy="475488"/>
          </a:xfrm>
          <a:prstGeom prst="ellipse">
            <a:avLst/>
          </a:prstGeom>
          <a:solidFill>
            <a:srgbClr val="36B37E"/>
          </a:solidFill>
          <a:ln/>
        </p:spPr>
      </p:sp>
      <p:sp>
        <p:nvSpPr>
          <p:cNvPr id="7" name="Text 4"/>
          <p:cNvSpPr/>
          <p:nvPr/>
        </p:nvSpPr>
        <p:spPr>
          <a:xfrm>
            <a:off x="1024128" y="2322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691640" y="21488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6B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3703320" y="214884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7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Notarized v0.1-alpha DMG, public AGPL-3.0 repo, fully self-contained.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3108960"/>
            <a:ext cx="7680960" cy="822960"/>
          </a:xfrm>
          <a:prstGeom prst="roundRect">
            <a:avLst>
              <a:gd name="adj" fmla="val 11111"/>
            </a:avLst>
          </a:prstGeom>
          <a:solidFill>
            <a:srgbClr val="102A47"/>
          </a:solidFill>
          <a:ln/>
        </p:spPr>
      </p:sp>
      <p:sp>
        <p:nvSpPr>
          <p:cNvPr id="11" name="Shape 8"/>
          <p:cNvSpPr/>
          <p:nvPr/>
        </p:nvSpPr>
        <p:spPr>
          <a:xfrm>
            <a:off x="1024128" y="3282696"/>
            <a:ext cx="475488" cy="475488"/>
          </a:xfrm>
          <a:prstGeom prst="ellipse">
            <a:avLst/>
          </a:prstGeom>
          <a:solidFill>
            <a:srgbClr val="22C1B6"/>
          </a:solidFill>
          <a:ln/>
        </p:spPr>
      </p:sp>
      <p:sp>
        <p:nvSpPr>
          <p:cNvPr id="12" name="Text 9"/>
          <p:cNvSpPr/>
          <p:nvPr/>
        </p:nvSpPr>
        <p:spPr>
          <a:xfrm>
            <a:off x="1024128" y="32826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691640" y="31089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USB: solid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3703320" y="310896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7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One-plug sign-and-install in seconds — the guaranteed path.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22960" y="4069080"/>
            <a:ext cx="7680960" cy="822960"/>
          </a:xfrm>
          <a:prstGeom prst="roundRect">
            <a:avLst>
              <a:gd name="adj" fmla="val 11111"/>
            </a:avLst>
          </a:prstGeom>
          <a:solidFill>
            <a:srgbClr val="102A47"/>
          </a:solidFill>
          <a:ln/>
        </p:spPr>
      </p:sp>
      <p:sp>
        <p:nvSpPr>
          <p:cNvPr id="16" name="Shape 13"/>
          <p:cNvSpPr/>
          <p:nvPr/>
        </p:nvSpPr>
        <p:spPr>
          <a:xfrm>
            <a:off x="1024128" y="4242816"/>
            <a:ext cx="475488" cy="475488"/>
          </a:xfrm>
          <a:prstGeom prst="ellipse">
            <a:avLst/>
          </a:prstGeom>
          <a:solidFill>
            <a:srgbClr val="8A5CD1"/>
          </a:solidFill>
          <a:ln/>
        </p:spPr>
      </p:sp>
      <p:sp>
        <p:nvSpPr>
          <p:cNvPr id="17" name="Text 14"/>
          <p:cNvSpPr/>
          <p:nvPr/>
        </p:nvSpPr>
        <p:spPr>
          <a:xfrm>
            <a:off x="1024128" y="42428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691640" y="4069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C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Accounts: flexible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3703320" y="406908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7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apps per free ID, stack accounts, or go $99/yr for a full year.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22960" y="5029200"/>
            <a:ext cx="7680960" cy="822960"/>
          </a:xfrm>
          <a:prstGeom prst="roundRect">
            <a:avLst>
              <a:gd name="adj" fmla="val 11111"/>
            </a:avLst>
          </a:prstGeom>
          <a:solidFill>
            <a:srgbClr val="102A47"/>
          </a:solidFill>
          <a:ln/>
        </p:spPr>
      </p:sp>
      <p:sp>
        <p:nvSpPr>
          <p:cNvPr id="21" name="Shape 18"/>
          <p:cNvSpPr/>
          <p:nvPr/>
        </p:nvSpPr>
        <p:spPr>
          <a:xfrm>
            <a:off x="1024128" y="5202936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2" name="Text 19"/>
          <p:cNvSpPr/>
          <p:nvPr/>
        </p:nvSpPr>
        <p:spPr>
          <a:xfrm>
            <a:off x="1024128" y="52029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1691640" y="50292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Wi-Fi: in progress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3703320" y="502920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7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solved; a device-initiated tunnel is the next step.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8869680" y="2651760"/>
            <a:ext cx="2743200" cy="1737360"/>
          </a:xfrm>
          <a:prstGeom prst="roundRect">
            <a:avLst>
              <a:gd name="adj" fmla="val 7368"/>
            </a:avLst>
          </a:prstGeom>
          <a:solidFill>
            <a:srgbClr val="22C1B6"/>
          </a:solidFill>
          <a:ln/>
          <a:effectLst>
            <a:outerShdw sx="100000" sy="100000" kx="0" ky="0" algn="bl" rotWithShape="0" blurRad="127000" dist="38100" dir="5400000">
              <a:srgbClr val="1A2A3A">
                <a:alpha val="1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8869680" y="2788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869680" y="32461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johnbuckman/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iSideload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2026-07-12T15:07:23Z</dcterms:created>
  <dcterms:modified xsi:type="dcterms:W3CDTF">2026-07-12T15:07:23Z</dcterms:modified>
</cp:coreProperties>
</file>